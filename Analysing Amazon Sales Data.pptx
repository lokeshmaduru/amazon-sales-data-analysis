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5" r:id="rId2"/>
    <p:sldId id="28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CF107D-847D-4202-B043-FE7687B7D39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C526BB-74C0-44D3-910D-6BE5920CFF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Name:- LOKESH MADURU</a:t>
          </a:r>
        </a:p>
      </dgm:t>
    </dgm:pt>
    <dgm:pt modelId="{03884F51-05CC-4EFF-A0EE-69550B6E24BF}" type="parTrans" cxnId="{DDD63775-5F8F-4267-B7BD-A7FFFDDB23E9}">
      <dgm:prSet/>
      <dgm:spPr/>
      <dgm:t>
        <a:bodyPr/>
        <a:lstStyle/>
        <a:p>
          <a:endParaRPr lang="en-US"/>
        </a:p>
      </dgm:t>
    </dgm:pt>
    <dgm:pt modelId="{50BDCAB3-8C4A-4C6E-8648-020A55C5E3BA}" type="sibTrans" cxnId="{DDD63775-5F8F-4267-B7BD-A7FFFDDB23E9}">
      <dgm:prSet/>
      <dgm:spPr/>
      <dgm:t>
        <a:bodyPr/>
        <a:lstStyle/>
        <a:p>
          <a:endParaRPr lang="en-US"/>
        </a:p>
      </dgm:t>
    </dgm:pt>
    <dgm:pt modelId="{998264B8-2087-4BBC-A54D-FEEF4FA3AB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LinkedIn:- </a:t>
          </a:r>
          <a:r>
            <a:rPr lang="en-US" b="0" i="0"/>
            <a:t>www.linkedin.com/in/lokeshmaduru</a:t>
          </a:r>
          <a:endParaRPr lang="en-US"/>
        </a:p>
      </dgm:t>
    </dgm:pt>
    <dgm:pt modelId="{BF57E48B-B233-4DDD-A973-58CD35CD0C9B}" type="parTrans" cxnId="{148CA467-FA19-492D-AD34-31FCBE0857FE}">
      <dgm:prSet/>
      <dgm:spPr/>
      <dgm:t>
        <a:bodyPr/>
        <a:lstStyle/>
        <a:p>
          <a:endParaRPr lang="en-US"/>
        </a:p>
      </dgm:t>
    </dgm:pt>
    <dgm:pt modelId="{71C53FB2-F36A-487B-83E3-91B405F3087F}" type="sibTrans" cxnId="{148CA467-FA19-492D-AD34-31FCBE0857FE}">
      <dgm:prSet/>
      <dgm:spPr/>
      <dgm:t>
        <a:bodyPr/>
        <a:lstStyle/>
        <a:p>
          <a:endParaRPr lang="en-US"/>
        </a:p>
      </dgm:t>
    </dgm:pt>
    <dgm:pt modelId="{5922BD55-721A-461C-B2ED-27BD64B9C352}" type="pres">
      <dgm:prSet presAssocID="{55CF107D-847D-4202-B043-FE7687B7D395}" presName="root" presStyleCnt="0">
        <dgm:presLayoutVars>
          <dgm:dir/>
          <dgm:resizeHandles val="exact"/>
        </dgm:presLayoutVars>
      </dgm:prSet>
      <dgm:spPr/>
    </dgm:pt>
    <dgm:pt modelId="{292E5EFD-40A8-4F66-80DA-B1B86E7FEFA6}" type="pres">
      <dgm:prSet presAssocID="{B6C526BB-74C0-44D3-910D-6BE5920CFFBF}" presName="compNode" presStyleCnt="0"/>
      <dgm:spPr/>
    </dgm:pt>
    <dgm:pt modelId="{9AA72005-7527-42EF-A10C-6AA58579A14B}" type="pres">
      <dgm:prSet presAssocID="{B6C526BB-74C0-44D3-910D-6BE5920CFFB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7642F1AF-E35C-4550-AEB7-E1EBEAB6DD4E}" type="pres">
      <dgm:prSet presAssocID="{B6C526BB-74C0-44D3-910D-6BE5920CFFBF}" presName="spaceRect" presStyleCnt="0"/>
      <dgm:spPr/>
    </dgm:pt>
    <dgm:pt modelId="{8C505FF8-103C-4DA9-99AE-89C83B13789F}" type="pres">
      <dgm:prSet presAssocID="{B6C526BB-74C0-44D3-910D-6BE5920CFFBF}" presName="textRect" presStyleLbl="revTx" presStyleIdx="0" presStyleCnt="2">
        <dgm:presLayoutVars>
          <dgm:chMax val="1"/>
          <dgm:chPref val="1"/>
        </dgm:presLayoutVars>
      </dgm:prSet>
      <dgm:spPr/>
    </dgm:pt>
    <dgm:pt modelId="{0399BE6E-A431-4C84-B007-BF70A24D1F15}" type="pres">
      <dgm:prSet presAssocID="{50BDCAB3-8C4A-4C6E-8648-020A55C5E3BA}" presName="sibTrans" presStyleCnt="0"/>
      <dgm:spPr/>
    </dgm:pt>
    <dgm:pt modelId="{DC0B2574-D174-4FBE-936E-445FBEC0A241}" type="pres">
      <dgm:prSet presAssocID="{998264B8-2087-4BBC-A54D-FEEF4FA3ABF7}" presName="compNode" presStyleCnt="0"/>
      <dgm:spPr/>
    </dgm:pt>
    <dgm:pt modelId="{B0C0E523-EE2B-4698-BE3B-77D673EA55D4}" type="pres">
      <dgm:prSet presAssocID="{998264B8-2087-4BBC-A54D-FEEF4FA3ABF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9A6B9254-FF25-4655-94BE-AC5CC832C77D}" type="pres">
      <dgm:prSet presAssocID="{998264B8-2087-4BBC-A54D-FEEF4FA3ABF7}" presName="spaceRect" presStyleCnt="0"/>
      <dgm:spPr/>
    </dgm:pt>
    <dgm:pt modelId="{75F8ADB0-99F3-4F6D-B069-CBC4B5C31154}" type="pres">
      <dgm:prSet presAssocID="{998264B8-2087-4BBC-A54D-FEEF4FA3ABF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2B3C321-DA35-4424-80F7-357664A253E0}" type="presOf" srcId="{998264B8-2087-4BBC-A54D-FEEF4FA3ABF7}" destId="{75F8ADB0-99F3-4F6D-B069-CBC4B5C31154}" srcOrd="0" destOrd="0" presId="urn:microsoft.com/office/officeart/2018/2/layout/IconLabelList"/>
    <dgm:cxn modelId="{D9C94136-1FE7-4275-A38A-1A1BC5622685}" type="presOf" srcId="{55CF107D-847D-4202-B043-FE7687B7D395}" destId="{5922BD55-721A-461C-B2ED-27BD64B9C352}" srcOrd="0" destOrd="0" presId="urn:microsoft.com/office/officeart/2018/2/layout/IconLabelList"/>
    <dgm:cxn modelId="{148CA467-FA19-492D-AD34-31FCBE0857FE}" srcId="{55CF107D-847D-4202-B043-FE7687B7D395}" destId="{998264B8-2087-4BBC-A54D-FEEF4FA3ABF7}" srcOrd="1" destOrd="0" parTransId="{BF57E48B-B233-4DDD-A973-58CD35CD0C9B}" sibTransId="{71C53FB2-F36A-487B-83E3-91B405F3087F}"/>
    <dgm:cxn modelId="{DDD63775-5F8F-4267-B7BD-A7FFFDDB23E9}" srcId="{55CF107D-847D-4202-B043-FE7687B7D395}" destId="{B6C526BB-74C0-44D3-910D-6BE5920CFFBF}" srcOrd="0" destOrd="0" parTransId="{03884F51-05CC-4EFF-A0EE-69550B6E24BF}" sibTransId="{50BDCAB3-8C4A-4C6E-8648-020A55C5E3BA}"/>
    <dgm:cxn modelId="{1DDB96AA-601E-4059-9475-69BAA31A8269}" type="presOf" srcId="{B6C526BB-74C0-44D3-910D-6BE5920CFFBF}" destId="{8C505FF8-103C-4DA9-99AE-89C83B13789F}" srcOrd="0" destOrd="0" presId="urn:microsoft.com/office/officeart/2018/2/layout/IconLabelList"/>
    <dgm:cxn modelId="{F427FD93-9A46-44F3-98D5-E0DDF1AE7E8D}" type="presParOf" srcId="{5922BD55-721A-461C-B2ED-27BD64B9C352}" destId="{292E5EFD-40A8-4F66-80DA-B1B86E7FEFA6}" srcOrd="0" destOrd="0" presId="urn:microsoft.com/office/officeart/2018/2/layout/IconLabelList"/>
    <dgm:cxn modelId="{BEA3A2EC-514A-4C21-B9F2-F1539B17C741}" type="presParOf" srcId="{292E5EFD-40A8-4F66-80DA-B1B86E7FEFA6}" destId="{9AA72005-7527-42EF-A10C-6AA58579A14B}" srcOrd="0" destOrd="0" presId="urn:microsoft.com/office/officeart/2018/2/layout/IconLabelList"/>
    <dgm:cxn modelId="{528F43DD-876E-4F43-BAC2-63152C5ADA52}" type="presParOf" srcId="{292E5EFD-40A8-4F66-80DA-B1B86E7FEFA6}" destId="{7642F1AF-E35C-4550-AEB7-E1EBEAB6DD4E}" srcOrd="1" destOrd="0" presId="urn:microsoft.com/office/officeart/2018/2/layout/IconLabelList"/>
    <dgm:cxn modelId="{F0982CBA-18BA-454B-B2D1-21BB1E2D3D62}" type="presParOf" srcId="{292E5EFD-40A8-4F66-80DA-B1B86E7FEFA6}" destId="{8C505FF8-103C-4DA9-99AE-89C83B13789F}" srcOrd="2" destOrd="0" presId="urn:microsoft.com/office/officeart/2018/2/layout/IconLabelList"/>
    <dgm:cxn modelId="{A01EF7AA-8565-46E0-B9DB-C675372A9117}" type="presParOf" srcId="{5922BD55-721A-461C-B2ED-27BD64B9C352}" destId="{0399BE6E-A431-4C84-B007-BF70A24D1F15}" srcOrd="1" destOrd="0" presId="urn:microsoft.com/office/officeart/2018/2/layout/IconLabelList"/>
    <dgm:cxn modelId="{ED180B5D-FCC3-4E0C-84ED-D20A7B8C2D13}" type="presParOf" srcId="{5922BD55-721A-461C-B2ED-27BD64B9C352}" destId="{DC0B2574-D174-4FBE-936E-445FBEC0A241}" srcOrd="2" destOrd="0" presId="urn:microsoft.com/office/officeart/2018/2/layout/IconLabelList"/>
    <dgm:cxn modelId="{F00E0D6C-4E5B-4682-B0A5-CBD0C1782CF3}" type="presParOf" srcId="{DC0B2574-D174-4FBE-936E-445FBEC0A241}" destId="{B0C0E523-EE2B-4698-BE3B-77D673EA55D4}" srcOrd="0" destOrd="0" presId="urn:microsoft.com/office/officeart/2018/2/layout/IconLabelList"/>
    <dgm:cxn modelId="{8001E6AB-D268-429C-BE62-1B9A5C71E09A}" type="presParOf" srcId="{DC0B2574-D174-4FBE-936E-445FBEC0A241}" destId="{9A6B9254-FF25-4655-94BE-AC5CC832C77D}" srcOrd="1" destOrd="0" presId="urn:microsoft.com/office/officeart/2018/2/layout/IconLabelList"/>
    <dgm:cxn modelId="{BE8D80EE-D704-4D5C-BC58-C32011E6BDDE}" type="presParOf" srcId="{DC0B2574-D174-4FBE-936E-445FBEC0A241}" destId="{75F8ADB0-99F3-4F6D-B069-CBC4B5C3115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A72005-7527-42EF-A10C-6AA58579A14B}">
      <dsp:nvSpPr>
        <dsp:cNvPr id="0" name=""/>
        <dsp:cNvSpPr/>
      </dsp:nvSpPr>
      <dsp:spPr>
        <a:xfrm>
          <a:off x="608709" y="1181424"/>
          <a:ext cx="951750" cy="951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05FF8-103C-4DA9-99AE-89C83B13789F}">
      <dsp:nvSpPr>
        <dsp:cNvPr id="0" name=""/>
        <dsp:cNvSpPr/>
      </dsp:nvSpPr>
      <dsp:spPr>
        <a:xfrm>
          <a:off x="27084" y="2428216"/>
          <a:ext cx="211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Name:- LOKESH MADURU</a:t>
          </a:r>
        </a:p>
      </dsp:txBody>
      <dsp:txXfrm>
        <a:off x="27084" y="2428216"/>
        <a:ext cx="2115000" cy="720000"/>
      </dsp:txXfrm>
    </dsp:sp>
    <dsp:sp modelId="{B0C0E523-EE2B-4698-BE3B-77D673EA55D4}">
      <dsp:nvSpPr>
        <dsp:cNvPr id="0" name=""/>
        <dsp:cNvSpPr/>
      </dsp:nvSpPr>
      <dsp:spPr>
        <a:xfrm>
          <a:off x="3093834" y="1181424"/>
          <a:ext cx="951750" cy="951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F8ADB0-99F3-4F6D-B069-CBC4B5C31154}">
      <dsp:nvSpPr>
        <dsp:cNvPr id="0" name=""/>
        <dsp:cNvSpPr/>
      </dsp:nvSpPr>
      <dsp:spPr>
        <a:xfrm>
          <a:off x="2512209" y="2428216"/>
          <a:ext cx="211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LinkedIn:- </a:t>
          </a:r>
          <a:r>
            <a:rPr lang="en-US" sz="1100" b="0" i="0" kern="1200"/>
            <a:t>www.linkedin.com/in/lokeshmaduru</a:t>
          </a:r>
          <a:endParaRPr lang="en-US" sz="1100" kern="1200"/>
        </a:p>
      </dsp:txBody>
      <dsp:txXfrm>
        <a:off x="2512209" y="2428216"/>
        <a:ext cx="211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24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443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54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193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41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984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065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127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85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08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325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9178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030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784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08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950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70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AC24A-8B6A-4C67-8556-5D6CE38E0D34}" type="datetimeFigureOut">
              <a:rPr lang="en-IN" smtClean="0"/>
              <a:t>19-03-2025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A2C38-0446-4139-A983-A71C9D1F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033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22DDE2-FB2D-421B-B377-F9AD495CE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95140B-9736-47E4-9A7D-ABB32F3AA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70CA6A-B3B0-4826-A91F-B2B1F8922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51B9DA-B0CC-480A-8EA5-4D5C3E051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F983E3-555E-7E41-0B75-40FDB25A3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24" y="965200"/>
            <a:ext cx="6170943" cy="43296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/>
              <a:t>Analysing Amazon Sales Data</a:t>
            </a:r>
            <a:endParaRPr lang="en-US" sz="54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E641DB-A503-41DE-ACA6-36B41C6C2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62126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ext Placeholder 2">
            <a:extLst>
              <a:ext uri="{FF2B5EF4-FFF2-40B4-BE49-F238E27FC236}">
                <a16:creationId xmlns:a16="http://schemas.microsoft.com/office/drawing/2014/main" id="{F197C4E1-5FF5-7350-450D-E57EE1C94B65}"/>
              </a:ext>
            </a:extLst>
          </p:cNvPr>
          <p:cNvGraphicFramePr/>
          <p:nvPr/>
        </p:nvGraphicFramePr>
        <p:xfrm>
          <a:off x="1" y="965200"/>
          <a:ext cx="4654294" cy="43296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2668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C2117-E985-6148-1D5A-849B9218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00074"/>
          </a:xfrm>
        </p:spPr>
        <p:txBody>
          <a:bodyPr>
            <a:normAutofit/>
          </a:bodyPr>
          <a:lstStyle/>
          <a:p>
            <a:pPr algn="l"/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Project:-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FB516-E7D9-E051-871F-7832944F0161}"/>
              </a:ext>
            </a:extLst>
          </p:cNvPr>
          <p:cNvSpPr txBox="1"/>
          <p:nvPr/>
        </p:nvSpPr>
        <p:spPr>
          <a:xfrm>
            <a:off x="142875" y="714375"/>
            <a:ext cx="11601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major aim of this project is to gain insight into the sales data of Amazon to understand the different factors that affect sales of the different branches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84DB9-FBC1-BBF3-43F3-3AB92E6CBF5E}"/>
              </a:ext>
            </a:extLst>
          </p:cNvPr>
          <p:cNvSpPr txBox="1"/>
          <p:nvPr/>
        </p:nvSpPr>
        <p:spPr>
          <a:xfrm>
            <a:off x="0" y="1900237"/>
            <a:ext cx="3128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 Used:-</a:t>
            </a:r>
            <a:endParaRPr lang="en-IN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0E661-61DE-CCBF-01C8-AD3C6C8FB08D}"/>
              </a:ext>
            </a:extLst>
          </p:cNvPr>
          <p:cNvSpPr txBox="1"/>
          <p:nvPr/>
        </p:nvSpPr>
        <p:spPr>
          <a:xfrm>
            <a:off x="142875" y="2699325"/>
            <a:ext cx="57578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database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table and insert the data.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columns with null values in them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Engineering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new column named “timeofday”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new column named “dayname”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new column named “monthname”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Answering Questions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75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5456D-2A60-7B3A-0278-34B0FAD2E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b="0" i="0" u="none" strike="noStrike">
                <a:effectLst/>
              </a:rPr>
              <a:t>1.What is the count of distinct cities in the dataset?</a:t>
            </a:r>
            <a:endParaRPr lang="en-US" sz="2800"/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E08C1294-6714-090B-033A-E0FE75F68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077" y="1608779"/>
            <a:ext cx="3490177" cy="1686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5BD4A3-E1D6-93B4-353A-90396DD9F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7" y="1742312"/>
            <a:ext cx="3639091" cy="16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6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EC3BBC63-DC19-41B8-AB81-E30CC21AE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87CAEF2-F22C-4F37-B4E4-C70558C0B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8F10673-EE70-40FA-BC39-6ACA0867C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71601-D009-9719-8E31-5E5404A1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b="0" i="0" u="none" strike="noStrike">
                <a:effectLst/>
              </a:rPr>
              <a:t>2.For each branch, what is the corresponding city?</a:t>
            </a:r>
            <a:endParaRPr lang="en-US" sz="2400"/>
          </a:p>
        </p:txBody>
      </p:sp>
      <p:sp>
        <p:nvSpPr>
          <p:cNvPr id="33" name="Rounded Rectangle 6">
            <a:extLst>
              <a:ext uri="{FF2B5EF4-FFF2-40B4-BE49-F238E27FC236}">
                <a16:creationId xmlns:a16="http://schemas.microsoft.com/office/drawing/2014/main" id="{2E7EA470-6D38-4444-9674-5888C9EC9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2623D1-0D33-59DF-6495-126471BFD6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347" r="-2" b="5474"/>
          <a:stretch/>
        </p:blipFill>
        <p:spPr>
          <a:xfrm>
            <a:off x="1503336" y="1197851"/>
            <a:ext cx="4592664" cy="25081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CA116D-2DB4-A7A0-4509-695D49A566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9100" b="1"/>
          <a:stretch/>
        </p:blipFill>
        <p:spPr>
          <a:xfrm>
            <a:off x="6256867" y="1197851"/>
            <a:ext cx="2683856" cy="251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7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BFD5-7BA2-D15B-4685-2C3016453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087225" cy="677863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3.What is the count of distinct product lines in the  dataset?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410B9-5518-CD20-CDEA-3407562FB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64" y="1281193"/>
            <a:ext cx="6568351" cy="36505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52FD59-C851-84C9-989A-451F71CF4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033" y="2854951"/>
            <a:ext cx="4167266" cy="281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2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89089-820B-C6D0-258D-E8AC394B6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b="0" i="0" u="none" strike="noStrike">
                <a:effectLst/>
              </a:rPr>
              <a:t>4.Which payment method occurs most frequently?</a:t>
            </a:r>
            <a:endParaRPr lang="en-US" sz="2800"/>
          </a:p>
        </p:txBody>
      </p:sp>
      <p:sp>
        <p:nvSpPr>
          <p:cNvPr id="22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A05A4-B520-518A-5FF0-B39461369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077" y="1592791"/>
            <a:ext cx="3490177" cy="17182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621BBA-D4C3-0986-B991-0A47B38D21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8" y="1456475"/>
            <a:ext cx="3609110" cy="197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160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F1FE7D-11F7-4387-BC70-3CC4D1260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100" b="0" i="0" u="none" strike="noStrike">
                <a:effectLst/>
              </a:rPr>
              <a:t>5.Which product line has the highest sales?</a:t>
            </a:r>
            <a:endParaRPr lang="en-US" sz="31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4374D1-6C0D-BD9B-CF41-8F2260D0D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077" y="1328985"/>
            <a:ext cx="3490177" cy="22458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4C25FB-A779-CF15-75BB-A80D114CFD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7" y="1456474"/>
            <a:ext cx="3639091" cy="188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5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6809D-9164-6748-2D66-BD3A4FDBB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b="0" i="0" u="none" strike="noStrike">
                <a:effectLst/>
              </a:rPr>
              <a:t>6.How much revenue is generated each month?</a:t>
            </a:r>
            <a:endParaRPr lang="en-US" sz="28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7B5FD5-D555-A9D5-7847-380A11B55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077" y="1796517"/>
            <a:ext cx="3490177" cy="13107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0AD487-AE84-BA39-2F05-9D3A02F1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7" y="1742312"/>
            <a:ext cx="3669071" cy="168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59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A7B9C-0EB8-9122-D893-A24452BBC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b="0" i="0" u="none" strike="noStrike">
                <a:effectLst/>
              </a:rPr>
              <a:t>7.In which month did the cost of goods sold reach its peak?</a:t>
            </a:r>
            <a:endParaRPr lang="en-US" sz="24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BDFC9B-8CF4-ECA6-158D-A958876F9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077" y="1742969"/>
            <a:ext cx="3490177" cy="14178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06015B-ECF6-67C5-2BEF-999EAD6D7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7" y="1610583"/>
            <a:ext cx="3848953" cy="18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8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BBAEF-CF3D-6C26-047F-0A46283A0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b="0" i="0" u="none" strike="noStrike">
                <a:effectLst/>
              </a:rPr>
              <a:t>8.Which product line generated the highest revenue?</a:t>
            </a:r>
            <a:endParaRPr lang="en-US" sz="24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C14FC-148F-0234-CBC0-D9FB8D0B2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077" y="1614525"/>
            <a:ext cx="3490177" cy="16747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4494CB-4D02-DEC8-3A10-1D082B982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8" y="1337734"/>
            <a:ext cx="3555736" cy="214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15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986804-9B73-1799-CF4C-D08AE28F1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b="0" i="0" u="none" strike="noStrike">
                <a:effectLst/>
              </a:rPr>
              <a:t>9.In which city was the highest revenue recorded?</a:t>
            </a:r>
            <a:endParaRPr lang="en-US" sz="28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64061-2CA5-F01E-6B47-60B798CDC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519" y="1337733"/>
            <a:ext cx="3555736" cy="24697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E3D817-1AD2-2BCC-7233-70D87FAD4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8" y="1779185"/>
            <a:ext cx="3555736" cy="135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64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9993D-3FD4-FBE4-A9BB-FB0AE980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b="0" i="0" u="none" strike="noStrike">
                <a:effectLst/>
              </a:rPr>
              <a:t>10.Which product line incurred the highest Value Added Tax?</a:t>
            </a:r>
            <a:endParaRPr lang="en-US" sz="24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315DED-5C7E-EA0A-F493-F99B11509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077" y="1563149"/>
            <a:ext cx="3490177" cy="17775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4CC081-8AC7-3B59-11E3-335F9B637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7" y="1563150"/>
            <a:ext cx="3759013" cy="216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41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0E0D40-D9C8-87F1-3F36-4A732DD25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b="0" i="0" u="none" strike="noStrike">
                <a:effectLst/>
              </a:rPr>
              <a:t>11.For each product line, add a column indicating "Good" if its sales are above average, otherwise "Bad.“?</a:t>
            </a:r>
            <a:endParaRPr lang="en-US" sz="24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2A4A8F-4944-4673-6C5B-73F6E279B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115" y="974362"/>
            <a:ext cx="3417757" cy="31029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D4CB2E-0AC3-E5A0-17A9-D261823038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099" y="974362"/>
            <a:ext cx="4095871" cy="299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21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C626-CBEF-60E9-2CA1-88F4A7467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1513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12.Identify the branch that exceeded the average number of products sold.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F57D54-7A0F-8B22-1271-3E108A827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0" y="1019330"/>
            <a:ext cx="6380952" cy="49767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D16655-0070-B9AA-663A-974540A0C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797" y="2688988"/>
            <a:ext cx="3557189" cy="330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38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E842E-18A8-BDCB-CA73-694AB181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b="0" i="0" u="none" strike="noStrike">
                <a:effectLst/>
              </a:rPr>
              <a:t>13.Which product line is most frequently associated with each gender?</a:t>
            </a:r>
            <a:endParaRPr lang="en-US" sz="24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A37FB8-E747-23AF-E9FB-5D0F90B36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850" y="1337734"/>
            <a:ext cx="3490177" cy="22734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C92907-EDE5-851A-A7E5-1952A3D14D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538" y="1337733"/>
            <a:ext cx="3897442" cy="242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58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A6CC2-80F7-C9EC-9CF3-0353F3A0E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fontAlgn="base"/>
            <a:r>
              <a:rPr lang="en-US" sz="2400" b="0" i="0" u="none" strike="noStrike">
                <a:effectLst/>
              </a:rPr>
              <a:t>14.Calculate the average rating for each product line ?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6B1990-7B26-67F1-C532-3391905C2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077" y="1337733"/>
            <a:ext cx="3490177" cy="23948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165DFF-1261-502C-FFFD-81BC4751E5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8" y="1109272"/>
            <a:ext cx="3774002" cy="262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62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73A516-3995-6DD5-9A60-B3C60D692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b="0" i="0" u="none" strike="noStrike">
                <a:effectLst/>
              </a:rPr>
              <a:t>15.Count the sales occurrences for each time of day on every weekday.</a:t>
            </a:r>
            <a:endParaRPr lang="en-US" sz="24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D1A79C-FD45-BEA4-B1FD-50DE6A801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723" y="1197851"/>
            <a:ext cx="3360884" cy="25081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A5B66F-92EF-5F64-1AB8-04ACFF320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8" y="1197851"/>
            <a:ext cx="3759012" cy="264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40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5B2D-29C7-434B-FAE9-976A6D04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341"/>
            <a:ext cx="12192000" cy="593309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16.Identify the customer type contributing the highest revenue?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C67BB-507B-FABF-5DDF-06EC865FC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24" y="843082"/>
            <a:ext cx="5580952" cy="43147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CCAE7A-AF73-8BA8-52D4-767C4B911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26" y="2743201"/>
            <a:ext cx="5285712" cy="241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20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69507-DCEB-E6D7-F6D4-82C21337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b="0" i="0">
                <a:effectLst/>
              </a:rPr>
              <a:t>17.Determine the city with the highest VAT percentage?</a:t>
            </a:r>
            <a:endParaRPr lang="en-US" sz="24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4C12FC-1E35-A396-BB6E-57197F4DE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078" y="1657029"/>
            <a:ext cx="3253756" cy="19705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9ACA59-969C-F5B1-DF8C-23EE5FC0B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617" y="1094282"/>
            <a:ext cx="4047344" cy="277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51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A0C12-1AE6-3CB2-E485-D3EAFB05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b="0" i="0" u="none" strike="noStrike">
                <a:effectLst/>
              </a:rPr>
              <a:t>18.Identify the customer type with the highest VAT payments?</a:t>
            </a:r>
            <a:endParaRPr lang="en-US" sz="24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CDA342-044E-D100-4855-425E86E74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558" y="1456474"/>
            <a:ext cx="2938962" cy="19725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8F5E18-CBFF-6F6F-BD9E-C1594E91E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862" y="1154244"/>
            <a:ext cx="4422099" cy="262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03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48DD-019D-8561-26E2-7FAD817F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85788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</a:t>
            </a:r>
            <a:r>
              <a:rPr lang="en-IN" sz="3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count of distinct customer types in the dataset?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7CB42-EB47-B825-02BD-C2B90DFC0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71" y="1585210"/>
            <a:ext cx="5790929" cy="42309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E1F66E-8646-7D46-8A4B-2A6B4629F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348" y="2870616"/>
            <a:ext cx="4242216" cy="252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08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4DD6-29DE-6FC7-0F31-09FC1A515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00075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</a:t>
            </a:r>
            <a:r>
              <a:rPr lang="en-IN" sz="3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count of distinct payment methods in the dataset?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2A696F-D2AE-4E9D-33D5-7685EFCB1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27" y="1079292"/>
            <a:ext cx="5904572" cy="40173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678BE0-38CA-34AB-30FF-AAFFF338E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387" y="3087973"/>
            <a:ext cx="4815286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51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200C-C908-AC6C-DC89-BF53C6C40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213"/>
          </a:xfrm>
        </p:spPr>
        <p:txBody>
          <a:bodyPr>
            <a:normAutofit/>
          </a:bodyPr>
          <a:lstStyle/>
          <a:p>
            <a:pPr algn="l"/>
            <a:r>
              <a:rPr lang="en-IN" sz="3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21.Which customer type occurs most frequently?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49797-6215-3A1F-E555-D61B63D27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00" y="1309809"/>
            <a:ext cx="6323282" cy="40566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C34F07-DE81-7B17-EA94-8B02E8293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152" y="3409347"/>
            <a:ext cx="4664370" cy="285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47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EA65-A40A-084D-501A-200D0ECFC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351"/>
            <a:ext cx="12192000" cy="493999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</a:t>
            </a:r>
            <a:r>
              <a:rPr lang="en-IN" sz="3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 the customer type with the highest purchase frequency.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1017FD-A20D-1A55-1B96-D29CE077C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50" y="1184223"/>
            <a:ext cx="6033249" cy="4527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9416E5-5F0E-A758-F5A9-B3D3302D9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377" y="2818151"/>
            <a:ext cx="5036695" cy="313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73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A3C6-37DE-6AEC-22B8-26D1C529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85788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</a:t>
            </a:r>
            <a:r>
              <a:rPr lang="en-IN" sz="3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Determine the predominant gender among customers?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588E24-DB54-015C-0EB8-B1281E192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7" y="1214204"/>
            <a:ext cx="6083482" cy="49017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64D884-FEDF-AC4B-7A93-60CF1954C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465" y="2893100"/>
            <a:ext cx="4886793" cy="284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333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A0C6-C982-ED43-5DAA-BED21B1E3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7238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b="0" i="0" u="none" strike="noStrike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24.Examine the distribution of genders within each branch?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C1B936-779D-651A-624A-AF5E7FE9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44" y="871737"/>
            <a:ext cx="10095238" cy="32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F1C3FC-BA9D-63BC-6FF8-A03161A26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455" y="4369632"/>
            <a:ext cx="6785931" cy="248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69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EA692-357C-783D-0768-4D136E2B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b="0" i="0" u="none" strike="noStrike">
                <a:effectLst/>
              </a:rPr>
              <a:t>25.Identify the time of day when customers provide the most ratings?</a:t>
            </a:r>
            <a:endParaRPr lang="en-US" sz="24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A0432F-6AF7-A785-6EF8-304F3647B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077" y="1707953"/>
            <a:ext cx="3490177" cy="14879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2DD1B8-03F1-E56A-0AA1-AEC58F834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8" y="1337733"/>
            <a:ext cx="3759012" cy="255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457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AA83B-5EC4-141D-7CAA-DD52408C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b="0" i="0" u="none" strike="noStrike">
                <a:effectLst/>
              </a:rPr>
              <a:t>26.Determine the time of day with the highest customer ratings for each branch.</a:t>
            </a:r>
            <a:endParaRPr lang="en-US" sz="24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EACFED-A1D1-DC0E-888F-7596C7D6D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201" y="1197851"/>
            <a:ext cx="3261929" cy="25081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2CD4DE-5EF7-F725-AF84-F1A00DDFC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8" y="1197851"/>
            <a:ext cx="3714042" cy="264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321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CF7EF-4478-B931-A7B6-462EB74F9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b="0" i="0" u="none" strike="noStrike">
                <a:effectLst/>
              </a:rPr>
              <a:t>27.Identify the day of the week with the highest average ratings?</a:t>
            </a:r>
            <a:endParaRPr lang="en-US" sz="24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AB0E5-8647-4F6A-918F-ABC011F1F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805" y="1197851"/>
            <a:ext cx="3310721" cy="25081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0EB106-303F-C05F-AB8B-3469B29D2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987" y="1079292"/>
            <a:ext cx="3818973" cy="280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174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F903EC-3A73-4035-9A8D-5DC7F07B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3174D-5BC8-EB9B-E96E-A29E6153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888" y="4676012"/>
            <a:ext cx="10146224" cy="844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/>
              <a:t>28.</a:t>
            </a:r>
            <a:r>
              <a:rPr lang="en-US" sz="2400" b="0" i="0" u="none" strike="noStrike">
                <a:effectLst/>
              </a:rPr>
              <a:t> Determine the day of the week with the highest average ratings for each branch.</a:t>
            </a:r>
            <a:endParaRPr lang="en-US" sz="240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0337EB5-4225-437C-BEB8-193DA894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2888" y="712832"/>
            <a:ext cx="8402466" cy="347816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A8C96-F836-B8E7-EC3F-E87B31931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047" y="974360"/>
            <a:ext cx="3342806" cy="29080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17275E-EB5B-33A9-163D-075E90747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647" y="974361"/>
            <a:ext cx="4167264" cy="290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59997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163</TotalTime>
  <Words>461</Words>
  <Application>Microsoft Office PowerPoint</Application>
  <PresentationFormat>Widescreen</PresentationFormat>
  <Paragraphs>44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Century Gothic</vt:lpstr>
      <vt:lpstr>Times New Roman</vt:lpstr>
      <vt:lpstr>Vapor Trail</vt:lpstr>
      <vt:lpstr>Analysing Amazon Sales Data</vt:lpstr>
      <vt:lpstr>Aim of the Project:-</vt:lpstr>
      <vt:lpstr>1.What is the count of distinct cities in the dataset?</vt:lpstr>
      <vt:lpstr>2.For each branch, what is the corresponding city?</vt:lpstr>
      <vt:lpstr>3.What is the count of distinct product lines in the  dataset?</vt:lpstr>
      <vt:lpstr>4.Which payment method occurs most frequently?</vt:lpstr>
      <vt:lpstr>5.Which product line has the highest sales?</vt:lpstr>
      <vt:lpstr>6.How much revenue is generated each month?</vt:lpstr>
      <vt:lpstr>7.In which month did the cost of goods sold reach its peak?</vt:lpstr>
      <vt:lpstr>8.Which product line generated the highest revenue?</vt:lpstr>
      <vt:lpstr>9.In which city was the highest revenue recorded?</vt:lpstr>
      <vt:lpstr>10.Which product line incurred the highest Value Added Tax?</vt:lpstr>
      <vt:lpstr>11.For each product line, add a column indicating "Good" if its sales are above average, otherwise "Bad.“?</vt:lpstr>
      <vt:lpstr>12.Identify the branch that exceeded the average number of products sold.</vt:lpstr>
      <vt:lpstr>13.Which product line is most frequently associated with each gender?</vt:lpstr>
      <vt:lpstr>14.Calculate the average rating for each product line ?</vt:lpstr>
      <vt:lpstr>15.Count the sales occurrences for each time of day on every weekday.</vt:lpstr>
      <vt:lpstr>16.Identify the customer type contributing the highest revenue?</vt:lpstr>
      <vt:lpstr>17.Determine the city with the highest VAT percentage?</vt:lpstr>
      <vt:lpstr>18.Identify the customer type with the highest VAT payments?</vt:lpstr>
      <vt:lpstr>19. What is the count of distinct customer types in the dataset?</vt:lpstr>
      <vt:lpstr>20. What is the count of distinct payment methods in the dataset?</vt:lpstr>
      <vt:lpstr>21.Which customer type occurs most frequently?</vt:lpstr>
      <vt:lpstr>22. Identify the customer type with the highest purchase frequency.</vt:lpstr>
      <vt:lpstr>23. Determine the predominant gender among customers?</vt:lpstr>
      <vt:lpstr>24.Examine the distribution of genders within each branch?</vt:lpstr>
      <vt:lpstr>25.Identify the time of day when customers provide the most ratings?</vt:lpstr>
      <vt:lpstr>26.Determine the time of day with the highest customer ratings for each branch.</vt:lpstr>
      <vt:lpstr>27.Identify the day of the week with the highest average ratings?</vt:lpstr>
      <vt:lpstr>28. Determine the day of the week with the highest average ratings for each branch.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maduru</dc:creator>
  <cp:lastModifiedBy>lokesh maduru</cp:lastModifiedBy>
  <cp:revision>4</cp:revision>
  <dcterms:created xsi:type="dcterms:W3CDTF">2025-03-18T04:14:18Z</dcterms:created>
  <dcterms:modified xsi:type="dcterms:W3CDTF">2025-03-19T13:26:00Z</dcterms:modified>
</cp:coreProperties>
</file>